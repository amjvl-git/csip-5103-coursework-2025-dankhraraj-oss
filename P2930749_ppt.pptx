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aleway" pitchFamily="2" charset="0"/>
      <p:regular r:id="rId18"/>
    </p:embeddedFont>
    <p:embeddedFont>
      <p:font typeface="Roboto" panose="020000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27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9612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Architectural Comparison: ANN vs. CNN for Fashion-MNIST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96691"/>
            <a:ext cx="7556421" cy="123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Raj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Ghanshyambhai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Dankhra</a:t>
            </a:r>
            <a:b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Id: P2930749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12499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Introduction: The Deep Learning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compares the classification performance of two fundamental neural network architectures—an Artificial Neural Network (ANN) and a Convolutional Neural Network (CNN)—on the Fashion-MNIST dataset.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38406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question addressed is: </a:t>
            </a:r>
            <a:r>
              <a:rPr lang="en-US" sz="1750" dirty="0">
                <a:solidFill>
                  <a:srgbClr val="C49F8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effectively do these models handle complex image data, and which architecture is superior for visual feature extraction and classification?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1703"/>
            <a:ext cx="7699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 and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411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primary goal is to conduct a rigorous, side-by-side performance evaluation, providing clear metrics and insights for ML deployment decisions.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25227"/>
            <a:ext cx="4196358" cy="3262551"/>
          </a:xfrm>
          <a:prstGeom prst="roundRect">
            <a:avLst>
              <a:gd name="adj" fmla="val 448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69474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38506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3589139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4292203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Benchmark Performance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51084" y="5278874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baseline accuracy and training metrics for both ANN and CNN models.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725227"/>
            <a:ext cx="4196358" cy="3262551"/>
          </a:xfrm>
          <a:prstGeom prst="roundRect">
            <a:avLst>
              <a:gd name="adj" fmla="val 448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216962" y="369474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860" y="338506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933" y="3589139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4256" y="4292203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Model Complexity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5474256" y="527887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how architecture differences (dense vs. convolutional layers) impact training time and feature learning.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40133" y="3725227"/>
            <a:ext cx="4196358" cy="3262551"/>
          </a:xfrm>
          <a:prstGeom prst="roundRect">
            <a:avLst>
              <a:gd name="adj" fmla="val 448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9640133" y="3694748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98032" y="338506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2105" y="3589139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97427" y="4292203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PyTorch Implementation</a:t>
            </a:r>
            <a:endParaRPr lang="en-US" sz="2650" dirty="0"/>
          </a:p>
        </p:txBody>
      </p:sp>
      <p:sp>
        <p:nvSpPr>
          <p:cNvPr id="21" name="Text 16"/>
          <p:cNvSpPr/>
          <p:nvPr/>
        </p:nvSpPr>
        <p:spPr>
          <a:xfrm>
            <a:off x="9897427" y="527887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robust deep learning workflow implementation using PyTorch, covering data loading, model definition, and evaluation.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41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5055" y="525423"/>
            <a:ext cx="7806690" cy="1194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Standardized Training Environment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155055" y="2006203"/>
            <a:ext cx="780669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experiments were conducted under identical conditions and hyperparameters to ensure a fair comparison between the two models.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55055" y="2832616"/>
            <a:ext cx="3807857" cy="2506861"/>
          </a:xfrm>
          <a:prstGeom prst="roundRect">
            <a:avLst>
              <a:gd name="adj" fmla="val 32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53651" y="3031212"/>
            <a:ext cx="573167" cy="573167"/>
          </a:xfrm>
          <a:prstGeom prst="roundRect">
            <a:avLst>
              <a:gd name="adj" fmla="val 15951870"/>
            </a:avLst>
          </a:prstGeom>
          <a:solidFill>
            <a:srgbClr val="1B1B2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1290" y="3188851"/>
            <a:ext cx="257889" cy="2578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3651" y="3795355"/>
            <a:ext cx="238827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Hardware/Device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353651" y="4208383"/>
            <a:ext cx="3410664" cy="93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Leveraging available </a:t>
            </a:r>
            <a:r>
              <a:rPr lang="en-US" sz="15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cuda:0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accelerated training; gracefully falling back to CPU.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0153888" y="2832616"/>
            <a:ext cx="3807857" cy="2506861"/>
          </a:xfrm>
          <a:prstGeom prst="roundRect">
            <a:avLst>
              <a:gd name="adj" fmla="val 32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52484" y="3031212"/>
            <a:ext cx="573167" cy="573167"/>
          </a:xfrm>
          <a:prstGeom prst="roundRect">
            <a:avLst>
              <a:gd name="adj" fmla="val 15951870"/>
            </a:avLst>
          </a:prstGeom>
          <a:solidFill>
            <a:srgbClr val="1B1B2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0123" y="3188851"/>
            <a:ext cx="257889" cy="2578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52484" y="3795355"/>
            <a:ext cx="238827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Hyperparameters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10352484" y="4208383"/>
            <a:ext cx="3410664" cy="91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settings across both models: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EPOCHS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= 64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LR = 0.05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MOMENTUM = 0.9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55055" y="5530453"/>
            <a:ext cx="7806690" cy="2185868"/>
          </a:xfrm>
          <a:prstGeom prst="roundRect">
            <a:avLst>
              <a:gd name="adj" fmla="val 3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53651" y="5729049"/>
            <a:ext cx="573167" cy="573167"/>
          </a:xfrm>
          <a:prstGeom prst="roundRect">
            <a:avLst>
              <a:gd name="adj" fmla="val 15951870"/>
            </a:avLst>
          </a:prstGeom>
          <a:solidFill>
            <a:srgbClr val="1B1B2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1290" y="5886688"/>
            <a:ext cx="257889" cy="25788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3651" y="6493193"/>
            <a:ext cx="238827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Regularization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6353651" y="6906220"/>
            <a:ext cx="7409498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 Rate of 0.4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applied to critical layers in both networks to mitigate overfitting.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466" y="536258"/>
            <a:ext cx="8048149" cy="609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Preparation and Augmentation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466" y="1535549"/>
            <a:ext cx="13265468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used the Fashion-MNIST dataset, containing 60,000 training and 10,000 test images across 10 classes, with a </a:t>
            </a: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 validation split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6" y="2066806"/>
            <a:ext cx="4259342" cy="4259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466" y="6521053"/>
            <a:ext cx="243756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2466" y="6942534"/>
            <a:ext cx="4259342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distinct classes of grayscale fashion items, providing a good balance for testing classification complexity.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29" y="2066806"/>
            <a:ext cx="4259342" cy="4259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5529" y="6521053"/>
            <a:ext cx="3463766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Preprocessing &amp; Normalization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185529" y="6942534"/>
            <a:ext cx="4259342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are converted to tensors and normalized to a mean and standard deviation of 0.5.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592" y="2066806"/>
            <a:ext cx="4259342" cy="4259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8592" y="6521053"/>
            <a:ext cx="243756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Augmentation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688592" y="6942534"/>
            <a:ext cx="4259342" cy="951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data utilizes </a:t>
            </a:r>
            <a:r>
              <a:rPr lang="en-US" sz="15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RandomRotation(10)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5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RandomHorizontalFlip()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increased robustness.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578" y="341471"/>
            <a:ext cx="4091702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Architectures Defined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578" y="1039654"/>
            <a:ext cx="2651165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Neural Network (ANN)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34578" y="1396484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ANN uses a fully connected design, treating the 28x28 image as a flat 784-dimension vector input.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4578" y="1706761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Layer: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784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4578" y="1948815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Layer 1: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128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neurons (ReLU activation)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4578" y="2190869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Layer 2: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neurons (ReLU + Dropout 0.4)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4578" y="2432923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Layer: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classes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78" y="2771180"/>
            <a:ext cx="5186904" cy="5186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74268" y="1039654"/>
            <a:ext cx="3145750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Convolutional Neural Network (CNN)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74268" y="1396484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CNN leverages spatial locality with convolutional layers, designed for superior image feature extraction.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74268" y="1706761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 Layer: 1 input channel,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output channels, kernel size 3x3, padding=1 (ReLU)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4268" y="1948815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Pooling Layer: MaxPool 2x2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74268" y="2190869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 Layer: Rate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74268" y="2432923"/>
            <a:ext cx="6729174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Flatten &amp; Fully Connected: From 16x14x14 to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neurons, then to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classes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659" y="2771180"/>
            <a:ext cx="5186904" cy="5186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026"/>
            <a:ext cx="79706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and Validation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34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models were trained for 10 epochs. The training process tracks average loss and validation accuracy per epoch.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739" y="2898457"/>
            <a:ext cx="3980736" cy="272188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926" y="2898457"/>
            <a:ext cx="3980736" cy="2721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3951" y="6276618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CNN model shows a more rapid convergence and consistently achieves higher validation accuracy compared to the ANN throughout the training process.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793790" y="6021467"/>
            <a:ext cx="30480" cy="1236107"/>
          </a:xfrm>
          <a:prstGeom prst="rect">
            <a:avLst/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6356"/>
            <a:ext cx="85879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Results: Final Test Accuracy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387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Post-training evaluation on the held-out test set reveals the definitive performance advantage of the CNN architecture.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70164"/>
            <a:ext cx="5335667" cy="283488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3790" y="4170164"/>
            <a:ext cx="4493657" cy="283488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299478" y="4170164"/>
            <a:ext cx="87391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84.22%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737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 Test Accuracy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227439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baseline performance, but limited by feature extraction on raw pixel data.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56884" y="4170164"/>
            <a:ext cx="5341144" cy="283488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6884" y="4170164"/>
            <a:ext cx="4890254" cy="283488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12968049" y="4170164"/>
            <a:ext cx="86856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91.56%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4737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CNN Test Accuracy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56884" y="5227439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higher accuracy due to effective use of convolutional filters for spatial features.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770" y="498038"/>
            <a:ext cx="11901845" cy="56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Interpretation: Classification Accuracy by Category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3770" y="1426131"/>
            <a:ext cx="13362861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line graphs illustrate the classification accuracy of each model across different fashion categories, providing insights into their performance strengths and weaknesses.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770" y="2390299"/>
            <a:ext cx="2958941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 Classification Accuracy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3770" y="2854285"/>
            <a:ext cx="6460569" cy="86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ANN model exhibits fluctuating accuracy across categories, with notable dips for 'T-shirt/top' and 'Pullover', aligning with its tendency to confuse similar items.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70" y="3927038"/>
            <a:ext cx="6460569" cy="3617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681" y="2390299"/>
            <a:ext cx="296120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CNN Classification Accuracy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43681" y="2854285"/>
            <a:ext cx="6460569" cy="86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CNN model consistently achieves higher accuracy across most categories, demonstrating particularly strong performance in distinguishing 'Coat', 'Dress', and 'Shirt', reflecting its superior feature extraction capabilities.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681" y="3927038"/>
            <a:ext cx="6460569" cy="3617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3035" y="555784"/>
            <a:ext cx="775073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Conclusion: Leveraging Convolutional Power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83035" y="2098477"/>
            <a:ext cx="7750731" cy="95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study confirms that the CNN architecture is the superior choice for image classification tasks like Fashion-MNIST, validating its role as a standard for computer vision.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035" y="3277791"/>
            <a:ext cx="995243" cy="14653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77232" y="3476744"/>
            <a:ext cx="354139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ANN: Limited Feature Learning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377232" y="3907155"/>
            <a:ext cx="655653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for simpler, non-spatial data, but struggles with the inherent complexities and patterns in images.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035" y="4743093"/>
            <a:ext cx="995243" cy="14653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77232" y="4942046"/>
            <a:ext cx="424422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CNN: Superior Spatial Understanding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377232" y="5372457"/>
            <a:ext cx="655653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use of convolution and pooling layers allows the model to learn translation-invariant features, drastically improving accuracy.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035" y="6208395"/>
            <a:ext cx="995243" cy="14653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77232" y="6407348"/>
            <a:ext cx="2488049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Work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377232" y="6837759"/>
            <a:ext cx="655653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Investigate deeper CNNs (e.g., ResNet) or advanced techniques like transfer learning for further performance gains.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You!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48122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786</Words>
  <Application>Microsoft Office PowerPoint</Application>
  <PresentationFormat>Custom</PresentationFormat>
  <Paragraphs>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Raleway</vt:lpstr>
      <vt:lpstr>Consolas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Aarya Prajapati</cp:lastModifiedBy>
  <cp:revision>3</cp:revision>
  <dcterms:created xsi:type="dcterms:W3CDTF">2025-11-03T15:47:55Z</dcterms:created>
  <dcterms:modified xsi:type="dcterms:W3CDTF">2025-11-03T18:49:18Z</dcterms:modified>
</cp:coreProperties>
</file>